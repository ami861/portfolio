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72" r:id="rId1"/>
  </p:sldMasterIdLst>
  <p:notesMasterIdLst>
    <p:notesMasterId r:id="rId7"/>
  </p:notesMasterIdLst>
  <p:sldIdLst>
    <p:sldId id="259" r:id="rId2"/>
    <p:sldId id="265" r:id="rId3"/>
    <p:sldId id="267" r:id="rId4"/>
    <p:sldId id="266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6A6A6"/>
    <a:srgbClr val="381351"/>
    <a:srgbClr val="000000"/>
    <a:srgbClr val="FCB87A"/>
    <a:srgbClr val="F97F6F"/>
    <a:srgbClr val="FEDD81"/>
    <a:srgbClr val="FDD47F"/>
    <a:srgbClr val="F7E984"/>
    <a:srgbClr val="FBEA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06799F8-075E-4A3A-A7F6-7FBC6576F1A4}" styleName="Style à thème 2 - Accentuation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Style à thème 2 - Accentuation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28" autoAdjust="0"/>
    <p:restoredTop sz="94635"/>
  </p:normalViewPr>
  <p:slideViewPr>
    <p:cSldViewPr snapToGrid="0">
      <p:cViewPr varScale="1">
        <p:scale>
          <a:sx n="85" d="100"/>
          <a:sy n="85" d="100"/>
        </p:scale>
        <p:origin x="34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281e7c60810f880/Master%20in%20Economics_AMSE/M2/Corporate%20Finance/Group_Project_Corporate_Finance_M2/Financial_Modeling_Sanofi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ydie\AppData\Local\Microsoft\Windows\INetCache\IE\7QH2VG3Y\Levier_financier,WACC_and_profit.ratio,Op.returns,Croissance_2_(1)%5b1%5d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6666906673652715"/>
          <c:y val="6.5269220115048571E-2"/>
          <c:w val="0.79464365331987818"/>
          <c:h val="0.76804652103409754"/>
        </c:manualLayout>
      </c:layout>
      <c:barChart>
        <c:barDir val="col"/>
        <c:grouping val="stack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865216703"/>
        <c:axId val="1865214783"/>
      </c:barChart>
      <c:catAx>
        <c:axId val="1865216703"/>
        <c:scaling>
          <c:orientation val="minMax"/>
        </c:scaling>
        <c:delete val="1"/>
        <c:axPos val="b"/>
        <c:numFmt formatCode="0\ &quot;A&quot;" sourceLinked="1"/>
        <c:majorTickMark val="none"/>
        <c:minorTickMark val="none"/>
        <c:tickLblPos val="nextTo"/>
        <c:crossAx val="1865214783"/>
        <c:crosses val="autoZero"/>
        <c:auto val="1"/>
        <c:lblAlgn val="ctr"/>
        <c:lblOffset val="100"/>
        <c:noMultiLvlLbl val="0"/>
      </c:catAx>
      <c:valAx>
        <c:axId val="1865214783"/>
        <c:scaling>
          <c:orientation val="minMax"/>
        </c:scaling>
        <c:delete val="0"/>
        <c:axPos val="l"/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1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5216703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 w="3175">
      <a:solidFill>
        <a:schemeClr val="bg2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Revenues Projections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'DCF &amp; Sentivity'!$M$9</c:f>
              <c:strCache>
                <c:ptCount val="1"/>
                <c:pt idx="0">
                  <c:v>Net Sales</c:v>
                </c:pt>
              </c:strCache>
            </c:strRef>
          </c:tx>
          <c:spPr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cat>
            <c:numRef>
              <c:f>'DCF &amp; Sentivity'!$N$8:$V$8</c:f>
              <c:numCache>
                <c:formatCode>General</c:formatCode>
                <c:ptCount val="9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</c:numCache>
            </c:numRef>
          </c:cat>
          <c:val>
            <c:numRef>
              <c:f>'DCF &amp; Sentivity'!$N$9:$V$9</c:f>
              <c:numCache>
                <c:formatCode>_(* #\ ##0_);_(* \(#\ ##0\);_(* "-"??_);_(@_)</c:formatCode>
                <c:ptCount val="9"/>
                <c:pt idx="0">
                  <c:v>37761</c:v>
                </c:pt>
                <c:pt idx="1">
                  <c:v>42997</c:v>
                </c:pt>
                <c:pt idx="2">
                  <c:v>43070</c:v>
                </c:pt>
                <c:pt idx="3">
                  <c:v>46092.639139006213</c:v>
                </c:pt>
                <c:pt idx="4">
                  <c:v>48864.823302836907</c:v>
                </c:pt>
                <c:pt idx="5">
                  <c:v>51215.954274877491</c:v>
                </c:pt>
                <c:pt idx="6">
                  <c:v>53187.358785840501</c:v>
                </c:pt>
                <c:pt idx="7">
                  <c:v>54825.189036529351</c:v>
                </c:pt>
                <c:pt idx="8">
                  <c:v>55921.692817259936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D8-4CE6-A1C0-ED8FAD004A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454493408"/>
        <c:axId val="1454493888"/>
      </c:barChart>
      <c:catAx>
        <c:axId val="1454493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454493888"/>
        <c:crosses val="autoZero"/>
        <c:auto val="1"/>
        <c:lblAlgn val="ctr"/>
        <c:lblOffset val="100"/>
        <c:noMultiLvlLbl val="0"/>
      </c:catAx>
      <c:valAx>
        <c:axId val="14544938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\ ##0_);_(* \(#\ 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45449340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8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gradFill>
        <a:gsLst>
          <a:gs pos="100000">
            <a:schemeClr val="dk1">
              <a:lumMod val="95000"/>
              <a:lumOff val="5000"/>
            </a:schemeClr>
          </a:gs>
          <a:gs pos="0">
            <a:schemeClr val="dk1">
              <a:lumMod val="75000"/>
              <a:lumOff val="25000"/>
            </a:schemeClr>
          </a:gs>
        </a:gsLst>
        <a:path path="circle">
          <a:fillToRect l="50000" t="50000" r="50000" b="50000"/>
        </a:path>
      </a:gradFill>
      <a:ln w="9525">
        <a:solidFill>
          <a:schemeClr val="dk1">
            <a:lumMod val="75000"/>
            <a:lumOff val="2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gradFill>
        <a:gsLst>
          <a:gs pos="100000">
            <a:schemeClr val="lt1">
              <a:lumMod val="85000"/>
            </a:schemeClr>
          </a:gs>
          <a:gs pos="0">
            <a:schemeClr val="lt1"/>
          </a:gs>
        </a:gsLst>
        <a:path path="circle">
          <a:fillToRect l="50000" t="50000" r="50000" b="50000"/>
        </a:path>
      </a:gradFill>
      <a:ln w="9525" cap="flat" cmpd="sng" algn="ctr">
        <a:solidFill>
          <a:schemeClr val="lt1"/>
        </a:solidFill>
        <a:round/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20:49:04.8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3238 24481,'8905'-3237'0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20:49:18.0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22186,'420'0'0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20:49:31.7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216 0 24575,'-3'1'0,"1"-1"0,-1 1 0,1-1 0,-1 1 0,1 0 0,0 0 0,-1 0 0,1 1 0,0-1 0,0 0 0,0 1 0,0-1 0,-2 3 0,-27 27 0,21-20 0,-5 7 0,1 2 0,1-1 0,1 1 0,0 1 0,-15 42 0,17-40 0,-20 69-1365,23-69-5461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FBCF1F-719A-41DC-99D6-8863D836B5F5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11F496-9E28-45C8-B7E5-696F35B4E82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143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11F496-9E28-45C8-B7E5-696F35B4E82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9692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CFE90-9B9D-B1B9-5C5E-6386B1508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8DC44C-A2D8-8EE0-0654-22EB2EA34D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07F9D6-7A3D-95EB-7DC2-A752DFFB0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D3FA4-0BC7-0126-0210-DDB24B8E55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11F496-9E28-45C8-B7E5-696F35B4E82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9315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11F496-9E28-45C8-B7E5-696F35B4E82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109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5E686-CDFC-FDDF-4C9E-D9FE660A2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D24F7E-EA31-5EB9-55D2-826EBD5BA1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7980D-C325-DEC6-E21C-D5BC5977EE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74AFF1-7CC0-4797-AC73-588BD66C9066}" type="datetime1">
              <a:rPr lang="en-US" smtClean="0"/>
              <a:t>6/19/2026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D96A6-91AA-E722-0C9D-15CB10932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D6C58-4533-B966-3DB4-E8FA535DA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910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A4F36-0D92-585C-5E4B-C744ED978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3" y="105982"/>
            <a:ext cx="9618756" cy="795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0944F-9760-B7EE-478F-EE23B5D2C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7A638-CA94-CCF0-D477-67918F4B1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‹N°›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321FB71-6042-16BA-A3AD-50B321D36B0E}"/>
              </a:ext>
            </a:extLst>
          </p:cNvPr>
          <p:cNvCxnSpPr>
            <a:cxnSpLocks/>
          </p:cNvCxnSpPr>
          <p:nvPr userDrawn="1"/>
        </p:nvCxnSpPr>
        <p:spPr>
          <a:xfrm flipV="1">
            <a:off x="478973" y="919394"/>
            <a:ext cx="11205028" cy="36286"/>
          </a:xfrm>
          <a:prstGeom prst="line">
            <a:avLst/>
          </a:prstGeom>
          <a:ln w="28575">
            <a:solidFill>
              <a:schemeClr val="accent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4146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F1125-A395-F4DA-49C3-FE554AF59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8912AA-5647-2188-347A-BB9EF7C9C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6A363-E522-D96B-F384-52B8A464F7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algn="r"/>
            <a:fld id="{C3B6A7BD-9D28-46CA-BAD1-609B754BA6F7}" type="datetime1">
              <a:rPr lang="en-US" smtClean="0"/>
              <a:t>6/19/2026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36DB0-B0CF-CA45-D04D-AB595E51F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CE1E1-DC29-651D-56D5-942176C0C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666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C59A9-4654-0EFD-43DE-BC970E5D7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24C73-3616-9390-09E9-658EFF0866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2A9942-0967-13C0-BBDA-059334DDC6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D58FFA-3886-036E-7C3D-AF65F46175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algn="r"/>
            <a:fld id="{F140F767-DF70-442E-B82F-DFD8043588BF}" type="datetime1">
              <a:rPr lang="en-US" smtClean="0"/>
              <a:t>6/19/2026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197531-9FB5-9226-A6D1-0769813E4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E0345A-4F36-A37B-9D33-E5B144531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674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4909E-8230-7D31-C218-C342F6245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2C8B39-DD0B-78FE-821F-A473CBE8E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5A12C4-F4C4-D51C-B71E-2B489778DF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D03CB5-01CC-99F8-5C9A-70AA8C1C64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A6F313-B18A-6095-F14B-8FF4896403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BDDB00-9801-810D-BEBF-68E66F3D4A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algn="r"/>
            <a:fld id="{55427107-5E66-4CF7-9AD2-327C20EE0937}" type="datetime1">
              <a:rPr lang="en-US" smtClean="0"/>
              <a:t>6/19/2026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075AE3-0F48-8C54-911B-EF50B50F9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7B5BD3-779D-4850-8417-212E7B8FF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046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5EE24-9BA6-384C-FD98-257FBE066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B10A8A-0458-1416-EE72-8F933743EC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algn="r"/>
            <a:fld id="{4A28A710-1FD7-41EA-BBA6-7BC397E6AC94}" type="datetime1">
              <a:rPr lang="en-US" smtClean="0"/>
              <a:t>6/19/2026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4C4BB9-C8AB-87E2-AE34-070160F6F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CB5EBA-D517-287D-B4F8-A7BD7E95C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661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884918-9767-0AF2-D24E-2591248493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algn="r"/>
            <a:fld id="{1B12EB5F-4AE5-462C-BAC1-C71EEBF0FBC2}" type="datetime1">
              <a:rPr lang="en-US" smtClean="0"/>
              <a:t>6/19/2026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53487B-1FA3-DFDF-74A8-B69011840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CACF5-2175-7282-27B3-075340D64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45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C5279-988D-6966-F17A-823C64C2D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FB199-CB31-2AD1-1923-FE9B57714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B6F1F-A87F-AFE6-BDE3-2556F30DC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FC5135-C22B-79D7-E410-600DAE65E3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algn="r"/>
            <a:fld id="{0D671497-ECEC-402B-87EF-60F0E6B988DB}" type="datetime1">
              <a:rPr lang="en-US" smtClean="0"/>
              <a:t>6/19/2026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41D09-6E16-9248-B5BB-98575C7CE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1927B5-4DAE-B245-6929-01F7688A0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976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73D15-A61E-7310-D58B-57C70B0AA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EF2F74-611A-24E7-11C6-4753B6CEDF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2BFD30-BA8B-BD4A-0B64-E9769E12EA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25A1E-4C62-3B00-AB04-CDF99D9BBE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algn="r"/>
            <a:fld id="{2CAE399B-3C64-446A-AD0D-A06BDC877D84}" type="datetime1">
              <a:rPr lang="en-US" smtClean="0"/>
              <a:t>6/19/2026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8C3084-4E72-09E4-246E-1F62040F8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819746-D021-0E3E-D568-4470AFD8E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769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95D10-CC05-43C2-8A00-3E1368D89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F86677-3462-2F20-573A-0B2B7B63B8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194B6-267E-0FAB-CD0C-3259801B9E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algn="r"/>
            <a:fld id="{3FBD586F-7358-48A9-88CA-DDE8E4C85C9E}" type="datetime1">
              <a:rPr lang="en-US" smtClean="0"/>
              <a:t>6/19/2026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59DF0-F325-3411-B98D-283E1F85E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3AD83-B42E-00C5-FAE9-804181642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451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F66E74-E458-2357-E3A1-758F0EEC70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1A9869-83E0-E88F-91D8-BDE9332071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9F996-FE56-405B-DE57-921F1DCA94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algn="r"/>
            <a:fld id="{45825DBB-2C7E-4DD3-9D55-91B7AE59A20A}" type="datetime1">
              <a:rPr lang="en-US" smtClean="0"/>
              <a:t>6/19/2026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2B2C1-438D-13D5-A2BE-32F6266AB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8A18D-AEA6-A03A-C849-1DA259BF4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054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82E67F-192C-79E5-9B17-E24C78AB6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5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82FDB1-C7D6-D72D-AE87-3143A597E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24001"/>
            <a:ext cx="10515600" cy="4355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0BA3F-65B3-BBE7-65C1-23534BDFD6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66132"/>
            <a:ext cx="624748" cy="3886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‹N°›</a:t>
            </a:fld>
            <a:endParaRPr lang="en-US" dirty="0"/>
          </a:p>
        </p:txBody>
      </p:sp>
      <p:pic>
        <p:nvPicPr>
          <p:cNvPr id="7" name="Picture 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6EBF420-C26B-4B2E-10B4-48F2C89254F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104302" y="-33239"/>
            <a:ext cx="1942555" cy="893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53470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73" r:id="rId1"/>
    <p:sldLayoutId id="2147484074" r:id="rId2"/>
    <p:sldLayoutId id="2147484075" r:id="rId3"/>
    <p:sldLayoutId id="2147484076" r:id="rId4"/>
    <p:sldLayoutId id="2147484077" r:id="rId5"/>
    <p:sldLayoutId id="2147484078" r:id="rId6"/>
    <p:sldLayoutId id="2147484079" r:id="rId7"/>
    <p:sldLayoutId id="2147484080" r:id="rId8"/>
    <p:sldLayoutId id="2147484081" r:id="rId9"/>
    <p:sldLayoutId id="2147484082" r:id="rId10"/>
    <p:sldLayoutId id="21474840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0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customXml" Target="../ink/ink1.xml"/><Relationship Id="rId11" Type="http://schemas.openxmlformats.org/officeDocument/2006/relationships/image" Target="../media/image120.png"/><Relationship Id="rId5" Type="http://schemas.openxmlformats.org/officeDocument/2006/relationships/chart" Target="../charts/chart2.xml"/><Relationship Id="rId10" Type="http://schemas.openxmlformats.org/officeDocument/2006/relationships/customXml" Target="../ink/ink3.xml"/><Relationship Id="rId4" Type="http://schemas.openxmlformats.org/officeDocument/2006/relationships/chart" Target="../charts/chart1.xml"/><Relationship Id="rId9" Type="http://schemas.openxmlformats.org/officeDocument/2006/relationships/image" Target="../media/image1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190A4-EBD3-141C-991A-57F404F8D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0351A19-4F01-7991-245D-74D4354E602C}"/>
              </a:ext>
            </a:extLst>
          </p:cNvPr>
          <p:cNvSpPr txBox="1">
            <a:spLocks/>
          </p:cNvSpPr>
          <p:nvPr/>
        </p:nvSpPr>
        <p:spPr>
          <a:xfrm>
            <a:off x="212140" y="4611016"/>
            <a:ext cx="7503110" cy="65335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b="1" dirty="0">
                <a:solidFill>
                  <a:schemeClr val="tx2"/>
                </a:solidFill>
              </a:rPr>
              <a:t>Financial Analysis and Evaluation</a:t>
            </a: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F6C899A1-EB98-8CB4-289B-C109820EC4B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68" b="18768"/>
          <a:stretch/>
        </p:blipFill>
        <p:spPr bwMode="auto">
          <a:xfrm>
            <a:off x="-1" y="0"/>
            <a:ext cx="12192001" cy="4201449"/>
          </a:xfrm>
          <a:prstGeom prst="rect">
            <a:avLst/>
          </a:prstGeom>
          <a:solidFill>
            <a:schemeClr val="accent2"/>
          </a:solidFill>
        </p:spPr>
      </p:pic>
      <p:pic>
        <p:nvPicPr>
          <p:cNvPr id="2" name="Picture 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02A33DB-777E-52C4-417E-E1CB4EB7A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48317" y="971550"/>
            <a:ext cx="3895366" cy="1791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ue and black sign&#10;&#10;Description automatically generated">
            <a:extLst>
              <a:ext uri="{FF2B5EF4-FFF2-40B4-BE49-F238E27FC236}">
                <a16:creationId xmlns:a16="http://schemas.microsoft.com/office/drawing/2014/main" id="{2A676852-FA72-CDDF-49C3-DE53A9909B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2357" y="5647692"/>
            <a:ext cx="1777503" cy="65335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5D7C760E-F1E6-7651-5C83-D8C6329001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11937" y="4432656"/>
            <a:ext cx="1967923" cy="8185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689282-F580-7608-379D-C4322AFEEE46}"/>
              </a:ext>
            </a:extLst>
          </p:cNvPr>
          <p:cNvSpPr txBox="1"/>
          <p:nvPr/>
        </p:nvSpPr>
        <p:spPr>
          <a:xfrm>
            <a:off x="212140" y="5886450"/>
            <a:ext cx="7712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800" b="1" dirty="0">
                <a:solidFill>
                  <a:schemeClr val="tx2"/>
                </a:solidFill>
              </a:rPr>
              <a:t>“An In-depth Review of Performance, Trends, and Strategic Insights”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D1913B3-CC50-FA5A-45A6-7C77029AC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443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2">
            <a:extLst>
              <a:ext uri="{FF2B5EF4-FFF2-40B4-BE49-F238E27FC236}">
                <a16:creationId xmlns:a16="http://schemas.microsoft.com/office/drawing/2014/main" id="{EB4A2799-BC34-BA2A-0F36-E414A4A575D0}"/>
              </a:ext>
            </a:extLst>
          </p:cNvPr>
          <p:cNvSpPr txBox="1"/>
          <p:nvPr/>
        </p:nvSpPr>
        <p:spPr>
          <a:xfrm>
            <a:off x="420914" y="216504"/>
            <a:ext cx="102180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Liquidity Analysis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9DD9372-94E4-1426-DCB0-AFB85CD02ED9}"/>
              </a:ext>
            </a:extLst>
          </p:cNvPr>
          <p:cNvSpPr txBox="1"/>
          <p:nvPr/>
        </p:nvSpPr>
        <p:spPr>
          <a:xfrm>
            <a:off x="91126" y="6381351"/>
            <a:ext cx="12009747" cy="36933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rtl="0" eaLnBrk="1" fontAlgn="t" latinLnBrk="0" hangingPunct="1"/>
            <a:r>
              <a:rPr lang="en-US" b="0" dirty="0">
                <a:solidFill>
                  <a:schemeClr val="bg1">
                    <a:lumMod val="65000"/>
                  </a:schemeClr>
                </a:solidFill>
              </a:rPr>
              <a:t>Profitability                                       </a:t>
            </a:r>
            <a:r>
              <a:rPr lang="en-US" b="1" dirty="0">
                <a:solidFill>
                  <a:srgbClr val="381351"/>
                </a:solidFill>
                <a:latin typeface="Aptos" panose="020B0004020202020204" pitchFamily="34" charset="0"/>
              </a:rPr>
              <a:t>Liquidity</a:t>
            </a:r>
            <a:r>
              <a:rPr lang="fr-FR" dirty="0">
                <a:latin typeface="Arial" panose="020B0604020202020204" pitchFamily="34" charset="0"/>
              </a:rPr>
              <a:t>                                     </a:t>
            </a:r>
            <a:r>
              <a:rPr lang="en-US" dirty="0">
                <a:solidFill>
                  <a:srgbClr val="A6A6A6"/>
                </a:solidFill>
                <a:latin typeface="Aptos" panose="020B0004020202020204" pitchFamily="34" charset="0"/>
              </a:rPr>
              <a:t>Leverage</a:t>
            </a:r>
            <a:r>
              <a:rPr lang="fr-FR" dirty="0">
                <a:latin typeface="Arial" panose="020B0604020202020204" pitchFamily="34" charset="0"/>
              </a:rPr>
              <a:t>                                                  </a:t>
            </a:r>
            <a:r>
              <a:rPr lang="en-US" sz="1800" b="0" i="0" u="none" strike="noStrike" kern="1200" dirty="0">
                <a:solidFill>
                  <a:srgbClr val="A6A6A6"/>
                </a:solidFill>
                <a:effectLst/>
                <a:latin typeface="Aptos" panose="020B0004020202020204" pitchFamily="34" charset="0"/>
              </a:rPr>
              <a:t>Valuation</a:t>
            </a:r>
            <a:endParaRPr lang="fr-FR" sz="1800" b="0" i="0" u="none" strike="noStrike" dirty="0">
              <a:effectLst/>
              <a:latin typeface="Arial" panose="020B0604020202020204" pitchFamily="34" charset="0"/>
            </a:endParaRPr>
          </a:p>
        </p:txBody>
      </p: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BFD85760-3ADC-6987-8E01-629833986F63}"/>
              </a:ext>
            </a:extLst>
          </p:cNvPr>
          <p:cNvCxnSpPr>
            <a:cxnSpLocks/>
          </p:cNvCxnSpPr>
          <p:nvPr/>
        </p:nvCxnSpPr>
        <p:spPr>
          <a:xfrm>
            <a:off x="2528047" y="6381351"/>
            <a:ext cx="1443318" cy="0"/>
          </a:xfrm>
          <a:prstGeom prst="line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9" name="Image 28">
            <a:extLst>
              <a:ext uri="{FF2B5EF4-FFF2-40B4-BE49-F238E27FC236}">
                <a16:creationId xmlns:a16="http://schemas.microsoft.com/office/drawing/2014/main" id="{99D141BF-2321-6A6C-2796-F2C489A86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914" y="3545617"/>
            <a:ext cx="4330380" cy="263166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CBCA9890-89F5-8F2A-9628-D4C5316D8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6528" y="1012220"/>
            <a:ext cx="4584589" cy="234038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7467F9DC-4F1B-F507-C713-07AF9BBD78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6528" y="3563547"/>
            <a:ext cx="4584589" cy="263166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graphicFrame>
        <p:nvGraphicFramePr>
          <p:cNvPr id="32" name="Tableau 31">
            <a:extLst>
              <a:ext uri="{FF2B5EF4-FFF2-40B4-BE49-F238E27FC236}">
                <a16:creationId xmlns:a16="http://schemas.microsoft.com/office/drawing/2014/main" id="{6EFF26F4-9341-93A8-9934-A578140833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191367"/>
              </p:ext>
            </p:extLst>
          </p:nvPr>
        </p:nvGraphicFramePr>
        <p:xfrm>
          <a:off x="420914" y="1192306"/>
          <a:ext cx="4330381" cy="2001910"/>
        </p:xfrm>
        <a:graphic>
          <a:graphicData uri="http://schemas.openxmlformats.org/drawingml/2006/table">
            <a:tbl>
              <a:tblPr>
                <a:tableStyleId>{18603FDC-E32A-4AB5-989C-0864C3EAD2B8}</a:tableStyleId>
              </a:tblPr>
              <a:tblGrid>
                <a:gridCol w="1266967">
                  <a:extLst>
                    <a:ext uri="{9D8B030D-6E8A-4147-A177-3AD203B41FA5}">
                      <a16:colId xmlns:a16="http://schemas.microsoft.com/office/drawing/2014/main" val="2907553429"/>
                    </a:ext>
                  </a:extLst>
                </a:gridCol>
                <a:gridCol w="1021138">
                  <a:extLst>
                    <a:ext uri="{9D8B030D-6E8A-4147-A177-3AD203B41FA5}">
                      <a16:colId xmlns:a16="http://schemas.microsoft.com/office/drawing/2014/main" val="4262968446"/>
                    </a:ext>
                  </a:extLst>
                </a:gridCol>
                <a:gridCol w="1021138">
                  <a:extLst>
                    <a:ext uri="{9D8B030D-6E8A-4147-A177-3AD203B41FA5}">
                      <a16:colId xmlns:a16="http://schemas.microsoft.com/office/drawing/2014/main" val="1205444818"/>
                    </a:ext>
                  </a:extLst>
                </a:gridCol>
                <a:gridCol w="1021138">
                  <a:extLst>
                    <a:ext uri="{9D8B030D-6E8A-4147-A177-3AD203B41FA5}">
                      <a16:colId xmlns:a16="http://schemas.microsoft.com/office/drawing/2014/main" val="116484978"/>
                    </a:ext>
                  </a:extLst>
                </a:gridCol>
              </a:tblGrid>
              <a:tr h="40038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fr-FR" sz="1400" b="1" u="none" strike="noStrike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Liquidity</a:t>
                      </a:r>
                      <a:r>
                        <a:rPr lang="fr-FR" sz="1200" b="1" u="none" strike="noStrike" dirty="0">
                          <a:effectLst/>
                        </a:rPr>
                        <a:t> ratio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fr-FR" sz="1400" b="1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Année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9674396"/>
                  </a:ext>
                </a:extLst>
              </a:tr>
              <a:tr h="40038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>
                          <a:effectLst/>
                        </a:rPr>
                        <a:t>2021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 dirty="0">
                          <a:effectLst/>
                        </a:rPr>
                        <a:t>2022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 dirty="0">
                          <a:effectLst/>
                        </a:rPr>
                        <a:t>2023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3121408"/>
                  </a:ext>
                </a:extLst>
              </a:tr>
              <a:tr h="400382"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u="none" strike="noStrike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Current</a:t>
                      </a:r>
                      <a:r>
                        <a:rPr lang="fr-FR" sz="1200" b="1" u="none" strike="noStrike" dirty="0">
                          <a:effectLst/>
                        </a:rPr>
                        <a:t> </a:t>
                      </a:r>
                      <a:r>
                        <a:rPr lang="fr-FR" sz="1400" b="1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ratio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>
                          <a:effectLst/>
                        </a:rPr>
                        <a:t>1,43526649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 dirty="0">
                          <a:effectLst/>
                        </a:rPr>
                        <a:t>1,41987982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>
                          <a:effectLst/>
                        </a:rPr>
                        <a:t>1,26704968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4822619"/>
                  </a:ext>
                </a:extLst>
              </a:tr>
              <a:tr h="400382"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Quick</a:t>
                      </a:r>
                      <a:r>
                        <a:rPr lang="fr-FR" sz="1200" b="1" u="none" strike="noStrike" dirty="0">
                          <a:effectLst/>
                        </a:rPr>
                        <a:t> </a:t>
                      </a:r>
                      <a:r>
                        <a:rPr lang="fr-FR" sz="1400" b="1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ratio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>
                          <a:effectLst/>
                        </a:rPr>
                        <a:t>0,82958441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>
                          <a:effectLst/>
                        </a:rPr>
                        <a:t>0,86796862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>
                          <a:effectLst/>
                        </a:rPr>
                        <a:t>0,70856411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2997099"/>
                  </a:ext>
                </a:extLst>
              </a:tr>
              <a:tr h="400382"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Cash</a:t>
                      </a:r>
                      <a:r>
                        <a:rPr lang="fr-FR" sz="1200" b="1" u="none" strike="noStrike" dirty="0">
                          <a:effectLst/>
                        </a:rPr>
                        <a:t> </a:t>
                      </a:r>
                      <a:r>
                        <a:rPr lang="fr-FR" sz="1400" b="1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ratio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>
                          <a:effectLst/>
                        </a:rPr>
                        <a:t>0,47419582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>
                          <a:effectLst/>
                        </a:rPr>
                        <a:t>0,51644133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 dirty="0">
                          <a:effectLst/>
                        </a:rPr>
                        <a:t>0,36000661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1083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9205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8B5C9-4C5D-2E63-6772-412B9B325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ce réservé du contenu 6" descr="Une image contenant texte, capture d’écran, ligne, Police&#10;&#10;Description générée automatiquement">
            <a:extLst>
              <a:ext uri="{FF2B5EF4-FFF2-40B4-BE49-F238E27FC236}">
                <a16:creationId xmlns:a16="http://schemas.microsoft.com/office/drawing/2014/main" id="{8B2D9D1F-F234-7855-668C-AEAB75C6F6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17377"/>
            <a:ext cx="5854796" cy="3535584"/>
          </a:xfrm>
          <a:ln>
            <a:solidFill>
              <a:srgbClr val="000000"/>
            </a:solidFill>
          </a:ln>
        </p:spPr>
      </p:pic>
      <p:sp>
        <p:nvSpPr>
          <p:cNvPr id="5" name="TextBox 12">
            <a:extLst>
              <a:ext uri="{FF2B5EF4-FFF2-40B4-BE49-F238E27FC236}">
                <a16:creationId xmlns:a16="http://schemas.microsoft.com/office/drawing/2014/main" id="{8CE7E7A0-292A-6C97-8D3B-34821A86182F}"/>
              </a:ext>
            </a:extLst>
          </p:cNvPr>
          <p:cNvSpPr txBox="1"/>
          <p:nvPr/>
        </p:nvSpPr>
        <p:spPr>
          <a:xfrm>
            <a:off x="420914" y="216504"/>
            <a:ext cx="102180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Financial Leverage </a:t>
            </a:r>
            <a:r>
              <a:rPr lang="en-US" sz="3200" b="1" dirty="0">
                <a:solidFill>
                  <a:srgbClr val="FFFFFF"/>
                </a:solidFill>
              </a:rPr>
              <a:t>Analysis</a:t>
            </a:r>
          </a:p>
        </p:txBody>
      </p:sp>
      <p:pic>
        <p:nvPicPr>
          <p:cNvPr id="13" name="Image 12" descr="Une image contenant texte, capture d’écran, Police, nombre&#10;&#10;Description générée automatiquement">
            <a:extLst>
              <a:ext uri="{FF2B5EF4-FFF2-40B4-BE49-F238E27FC236}">
                <a16:creationId xmlns:a16="http://schemas.microsoft.com/office/drawing/2014/main" id="{A8836E87-A237-A2CE-4A1D-60749E9A80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168184"/>
            <a:ext cx="5854796" cy="949577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7" name="Image 16" descr="Une image contenant texte, capture d’écran, ligne, Police&#10;&#10;Description générée automatiquement">
            <a:extLst>
              <a:ext uri="{FF2B5EF4-FFF2-40B4-BE49-F238E27FC236}">
                <a16:creationId xmlns:a16="http://schemas.microsoft.com/office/drawing/2014/main" id="{6A4C2012-2EB5-22F1-68B9-D4028C1BE0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241" y="3751159"/>
            <a:ext cx="4261921" cy="2426214"/>
          </a:xfrm>
          <a:prstGeom prst="rect">
            <a:avLst/>
          </a:prstGeom>
          <a:ln>
            <a:solidFill>
              <a:srgbClr val="000000"/>
            </a:solidFill>
          </a:ln>
        </p:spPr>
      </p:pic>
      <p:graphicFrame>
        <p:nvGraphicFramePr>
          <p:cNvPr id="19" name="Table 8">
            <a:extLst>
              <a:ext uri="{FF2B5EF4-FFF2-40B4-BE49-F238E27FC236}">
                <a16:creationId xmlns:a16="http://schemas.microsoft.com/office/drawing/2014/main" id="{98E1AECA-63AB-0F19-5A09-A6C52371E3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7536650"/>
              </p:ext>
            </p:extLst>
          </p:nvPr>
        </p:nvGraphicFramePr>
        <p:xfrm>
          <a:off x="0" y="6313715"/>
          <a:ext cx="12192000" cy="391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3308122507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66207421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809622408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466853895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35965034"/>
                    </a:ext>
                  </a:extLst>
                </a:gridCol>
              </a:tblGrid>
              <a:tr h="3918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Profitability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Liquidity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381351"/>
                          </a:solidFill>
                        </a:rPr>
                        <a:t>Leverage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6A6A6"/>
                          </a:solidFill>
                        </a:rPr>
                        <a:t>Valuation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3680292"/>
                  </a:ext>
                </a:extLst>
              </a:tr>
            </a:tbl>
          </a:graphicData>
        </a:graphic>
      </p:graphicFrame>
      <p:pic>
        <p:nvPicPr>
          <p:cNvPr id="21" name="Image 20" descr="Une image contenant capture d’écran, texte, nombre, ligne&#10;&#10;Description générée automatiquement">
            <a:extLst>
              <a:ext uri="{FF2B5EF4-FFF2-40B4-BE49-F238E27FC236}">
                <a16:creationId xmlns:a16="http://schemas.microsoft.com/office/drawing/2014/main" id="{F284C3ED-6D45-852C-EA83-AE711BAB39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241" y="1083167"/>
            <a:ext cx="4261396" cy="2525945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91256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214CF-0CDE-318C-E93E-7124E12CC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9FD99FA-4F54-6295-2137-72E5ECC5E9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6453858"/>
              </p:ext>
            </p:extLst>
          </p:nvPr>
        </p:nvGraphicFramePr>
        <p:xfrm>
          <a:off x="0" y="6313715"/>
          <a:ext cx="12192000" cy="391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3308122507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66207421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809622408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466853895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35965034"/>
                    </a:ext>
                  </a:extLst>
                </a:gridCol>
              </a:tblGrid>
              <a:tr h="3918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Profitability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       Liquidity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               Leverage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Valuation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3680292"/>
                  </a:ext>
                </a:extLst>
              </a:tr>
            </a:tbl>
          </a:graphicData>
        </a:graphic>
      </p:graphicFrame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7BD1996-9F92-8859-5B1D-1FCCBCFDD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1493" y="6447065"/>
            <a:ext cx="650507" cy="369332"/>
          </a:xfrm>
        </p:spPr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4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48F99E-2B9E-26B9-074F-19902315D9E2}"/>
              </a:ext>
            </a:extLst>
          </p:cNvPr>
          <p:cNvSpPr txBox="1"/>
          <p:nvPr/>
        </p:nvSpPr>
        <p:spPr>
          <a:xfrm>
            <a:off x="420914" y="216504"/>
            <a:ext cx="102180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Financial Growth and Projections….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94E1BB5-EAC4-146C-7B9A-CF5E84C4B968}"/>
              </a:ext>
            </a:extLst>
          </p:cNvPr>
          <p:cNvCxnSpPr>
            <a:cxnSpLocks/>
          </p:cNvCxnSpPr>
          <p:nvPr/>
        </p:nvCxnSpPr>
        <p:spPr>
          <a:xfrm flipV="1">
            <a:off x="478973" y="919394"/>
            <a:ext cx="11205028" cy="36286"/>
          </a:xfrm>
          <a:prstGeom prst="line">
            <a:avLst/>
          </a:prstGeom>
          <a:ln w="28575">
            <a:solidFill>
              <a:schemeClr val="accent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1CA51807-D69B-B13D-1A50-D35AB872B81D}"/>
              </a:ext>
            </a:extLst>
          </p:cNvPr>
          <p:cNvSpPr/>
          <p:nvPr/>
        </p:nvSpPr>
        <p:spPr>
          <a:xfrm>
            <a:off x="47051913" y="13858875"/>
            <a:ext cx="3581400" cy="1920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1" kern="1200">
                <a:solidFill>
                  <a:srgbClr val="7030A0"/>
                </a:solidFill>
              </a:rPr>
              <a:t>Terminal</a:t>
            </a:r>
            <a:r>
              <a:rPr lang="en-US" sz="1100" b="1" kern="1200" baseline="0">
                <a:solidFill>
                  <a:srgbClr val="7030A0"/>
                </a:solidFill>
              </a:rPr>
              <a:t> Growth Rate</a:t>
            </a:r>
            <a:endParaRPr lang="en-US" sz="1100" b="1" kern="1200">
              <a:solidFill>
                <a:srgbClr val="7030A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B64190-9A30-BDB6-1B51-3F9E83BE3806}"/>
              </a:ext>
            </a:extLst>
          </p:cNvPr>
          <p:cNvSpPr/>
          <p:nvPr/>
        </p:nvSpPr>
        <p:spPr>
          <a:xfrm>
            <a:off x="46729650" y="14087475"/>
            <a:ext cx="260350" cy="1123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1" kern="1200">
                <a:solidFill>
                  <a:srgbClr val="7030A0"/>
                </a:solidFill>
              </a:rPr>
              <a:t>WACC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1E8DF6E-A4E8-015E-8E48-45537B052EC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478973" y="1421296"/>
          <a:ext cx="4222236" cy="26075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679325BE-C211-F4C7-AC53-7EB7AFF3C3A4}"/>
              </a:ext>
            </a:extLst>
          </p:cNvPr>
          <p:cNvSpPr/>
          <p:nvPr/>
        </p:nvSpPr>
        <p:spPr>
          <a:xfrm>
            <a:off x="5958672" y="1421296"/>
            <a:ext cx="4680299" cy="19351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Sum of Discounted FCF</a:t>
            </a:r>
            <a:r>
              <a:rPr lang="en-US" dirty="0"/>
              <a:t> : €22,627 M</a:t>
            </a:r>
          </a:p>
          <a:p>
            <a:pPr algn="ctr"/>
            <a:r>
              <a:rPr lang="fr-FR" b="1" dirty="0"/>
              <a:t>Net Debt</a:t>
            </a:r>
            <a:r>
              <a:rPr lang="fr-FR" dirty="0"/>
              <a:t> : €7,682 M</a:t>
            </a:r>
          </a:p>
          <a:p>
            <a:pPr algn="ctr"/>
            <a:r>
              <a:rPr lang="en-US" b="1" dirty="0"/>
              <a:t>Discounted Terminal Value (TV)</a:t>
            </a:r>
            <a:r>
              <a:rPr lang="en-US" dirty="0"/>
              <a:t> : €48,185 M</a:t>
            </a:r>
          </a:p>
          <a:p>
            <a:pPr algn="ctr"/>
            <a:endParaRPr lang="en-US" dirty="0"/>
          </a:p>
        </p:txBody>
      </p:sp>
      <p:graphicFrame>
        <p:nvGraphicFramePr>
          <p:cNvPr id="8" name="Graphique 7">
            <a:extLst>
              <a:ext uri="{FF2B5EF4-FFF2-40B4-BE49-F238E27FC236}">
                <a16:creationId xmlns:a16="http://schemas.microsoft.com/office/drawing/2014/main" id="{B870FA91-C1CC-393E-EAFA-A76F14F4A8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3891337"/>
              </p:ext>
            </p:extLst>
          </p:nvPr>
        </p:nvGraphicFramePr>
        <p:xfrm>
          <a:off x="478973" y="142129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Encre 18">
                <a:extLst>
                  <a:ext uri="{FF2B5EF4-FFF2-40B4-BE49-F238E27FC236}">
                    <a16:creationId xmlns:a16="http://schemas.microsoft.com/office/drawing/2014/main" id="{7C294F24-B590-393E-ACB7-2C0251B93673}"/>
                  </a:ext>
                </a:extLst>
              </p14:cNvPr>
              <p14:cNvContentPartPr/>
              <p14:nvPr/>
            </p14:nvContentPartPr>
            <p14:xfrm>
              <a:off x="1366125" y="2481468"/>
              <a:ext cx="3206160" cy="1166040"/>
            </p14:xfrm>
          </p:contentPart>
        </mc:Choice>
        <mc:Fallback xmlns="">
          <p:pic>
            <p:nvPicPr>
              <p:cNvPr id="19" name="Encre 18">
                <a:extLst>
                  <a:ext uri="{FF2B5EF4-FFF2-40B4-BE49-F238E27FC236}">
                    <a16:creationId xmlns:a16="http://schemas.microsoft.com/office/drawing/2014/main" id="{7C294F24-B590-393E-ACB7-2C0251B9367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61805" y="2477148"/>
                <a:ext cx="3214800" cy="11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3" name="Encre 22">
                <a:extLst>
                  <a:ext uri="{FF2B5EF4-FFF2-40B4-BE49-F238E27FC236}">
                    <a16:creationId xmlns:a16="http://schemas.microsoft.com/office/drawing/2014/main" id="{2E01CEEB-1FC5-FF23-B672-277196BDA672}"/>
                  </a:ext>
                </a:extLst>
              </p14:cNvPr>
              <p14:cNvContentPartPr/>
              <p14:nvPr/>
            </p14:nvContentPartPr>
            <p14:xfrm>
              <a:off x="4431165" y="2461668"/>
              <a:ext cx="151560" cy="720"/>
            </p14:xfrm>
          </p:contentPart>
        </mc:Choice>
        <mc:Fallback xmlns="">
          <p:pic>
            <p:nvPicPr>
              <p:cNvPr id="23" name="Encre 22">
                <a:extLst>
                  <a:ext uri="{FF2B5EF4-FFF2-40B4-BE49-F238E27FC236}">
                    <a16:creationId xmlns:a16="http://schemas.microsoft.com/office/drawing/2014/main" id="{2E01CEEB-1FC5-FF23-B672-277196BDA67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426485" y="2453028"/>
                <a:ext cx="1602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6" name="Encre 25">
                <a:extLst>
                  <a:ext uri="{FF2B5EF4-FFF2-40B4-BE49-F238E27FC236}">
                    <a16:creationId xmlns:a16="http://schemas.microsoft.com/office/drawing/2014/main" id="{4E689400-BD0F-D004-7C2D-D164E55403D6}"/>
                  </a:ext>
                </a:extLst>
              </p14:cNvPr>
              <p14:cNvContentPartPr/>
              <p14:nvPr/>
            </p14:nvContentPartPr>
            <p14:xfrm>
              <a:off x="4504605" y="2491908"/>
              <a:ext cx="77760" cy="129240"/>
            </p14:xfrm>
          </p:contentPart>
        </mc:Choice>
        <mc:Fallback xmlns="">
          <p:pic>
            <p:nvPicPr>
              <p:cNvPr id="26" name="Encre 25">
                <a:extLst>
                  <a:ext uri="{FF2B5EF4-FFF2-40B4-BE49-F238E27FC236}">
                    <a16:creationId xmlns:a16="http://schemas.microsoft.com/office/drawing/2014/main" id="{4E689400-BD0F-D004-7C2D-D164E55403D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500285" y="2487588"/>
                <a:ext cx="86400" cy="137880"/>
              </a:xfrm>
              <a:prstGeom prst="rect">
                <a:avLst/>
              </a:prstGeom>
            </p:spPr>
          </p:pic>
        </mc:Fallback>
      </mc:AlternateContent>
      <p:sp>
        <p:nvSpPr>
          <p:cNvPr id="68" name="ZoneTexte 67">
            <a:extLst>
              <a:ext uri="{FF2B5EF4-FFF2-40B4-BE49-F238E27FC236}">
                <a16:creationId xmlns:a16="http://schemas.microsoft.com/office/drawing/2014/main" id="{2C7BFD3A-5431-5E83-A152-C7FAA406B8BA}"/>
              </a:ext>
            </a:extLst>
          </p:cNvPr>
          <p:cNvSpPr txBox="1"/>
          <p:nvPr/>
        </p:nvSpPr>
        <p:spPr>
          <a:xfrm>
            <a:off x="1848897" y="2703007"/>
            <a:ext cx="1475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7.02% CAGR</a:t>
            </a: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2C004391-225A-5783-D84E-393365EFA92F}"/>
              </a:ext>
            </a:extLst>
          </p:cNvPr>
          <p:cNvSpPr txBox="1"/>
          <p:nvPr/>
        </p:nvSpPr>
        <p:spPr>
          <a:xfrm>
            <a:off x="854109" y="3333574"/>
            <a:ext cx="763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€38M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DA26ED35-FBC9-C6C8-0182-1F64EE146F35}"/>
              </a:ext>
            </a:extLst>
          </p:cNvPr>
          <p:cNvSpPr txBox="1"/>
          <p:nvPr/>
        </p:nvSpPr>
        <p:spPr>
          <a:xfrm>
            <a:off x="4504605" y="2142580"/>
            <a:ext cx="1024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€56M</a:t>
            </a:r>
          </a:p>
        </p:txBody>
      </p:sp>
      <p:sp>
        <p:nvSpPr>
          <p:cNvPr id="72" name="Ellipse 71">
            <a:extLst>
              <a:ext uri="{FF2B5EF4-FFF2-40B4-BE49-F238E27FC236}">
                <a16:creationId xmlns:a16="http://schemas.microsoft.com/office/drawing/2014/main" id="{9F453085-C1C6-B614-FBC6-46889627B0B8}"/>
              </a:ext>
            </a:extLst>
          </p:cNvPr>
          <p:cNvSpPr/>
          <p:nvPr/>
        </p:nvSpPr>
        <p:spPr>
          <a:xfrm>
            <a:off x="6233885" y="4012879"/>
            <a:ext cx="4129872" cy="19097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Enterprise Value (EV)</a:t>
            </a:r>
            <a:r>
              <a:rPr lang="en-US" dirty="0"/>
              <a:t> : €70,813 M</a:t>
            </a:r>
          </a:p>
          <a:p>
            <a:pPr algn="ctr"/>
            <a:r>
              <a:rPr lang="en-US" b="1" dirty="0"/>
              <a:t>Equity Value (EQ)</a:t>
            </a:r>
            <a:r>
              <a:rPr lang="en-US" dirty="0"/>
              <a:t> : €63,131M</a:t>
            </a:r>
          </a:p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65986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9890D13-B49B-C704-1B40-2EF8E6E525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247846"/>
              </p:ext>
            </p:extLst>
          </p:nvPr>
        </p:nvGraphicFramePr>
        <p:xfrm>
          <a:off x="0" y="6313715"/>
          <a:ext cx="12192000" cy="391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3308122507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66207421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809622408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466853895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35965034"/>
                    </a:ext>
                  </a:extLst>
                </a:gridCol>
              </a:tblGrid>
              <a:tr h="3918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Profitability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Liquidity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Leverage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Valuation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3680292"/>
                  </a:ext>
                </a:extLst>
              </a:tr>
            </a:tbl>
          </a:graphicData>
        </a:graphic>
      </p:graphicFrame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0C34ED2-9F35-E7ED-7615-4CE8D08C9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1493" y="6447065"/>
            <a:ext cx="650507" cy="369332"/>
          </a:xfrm>
        </p:spPr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5</a:t>
            </a:fld>
            <a:endParaRPr lang="en-US" dirty="0"/>
          </a:p>
        </p:txBody>
      </p:sp>
      <p:pic>
        <p:nvPicPr>
          <p:cNvPr id="12" name="Picture 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A957A50-509E-D9D2-5222-1FC1706C0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104302" y="-33239"/>
            <a:ext cx="1942555" cy="893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191FBA2-C48F-366B-9D03-CEAB22028544}"/>
              </a:ext>
            </a:extLst>
          </p:cNvPr>
          <p:cNvSpPr txBox="1"/>
          <p:nvPr/>
        </p:nvSpPr>
        <p:spPr>
          <a:xfrm>
            <a:off x="420914" y="216504"/>
            <a:ext cx="102180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Buy Rating: Our Target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E05B2D-E758-5B3A-977E-7E0C47A0A780}"/>
              </a:ext>
            </a:extLst>
          </p:cNvPr>
          <p:cNvSpPr/>
          <p:nvPr/>
        </p:nvSpPr>
        <p:spPr>
          <a:xfrm>
            <a:off x="537029" y="1270000"/>
            <a:ext cx="4992914" cy="4668606"/>
          </a:xfrm>
          <a:prstGeom prst="rect">
            <a:avLst/>
          </a:prstGeom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28F8B0B-A515-98F8-55E0-6599201E04BC}"/>
              </a:ext>
            </a:extLst>
          </p:cNvPr>
          <p:cNvCxnSpPr>
            <a:cxnSpLocks/>
          </p:cNvCxnSpPr>
          <p:nvPr/>
        </p:nvCxnSpPr>
        <p:spPr>
          <a:xfrm flipV="1">
            <a:off x="478973" y="919394"/>
            <a:ext cx="11205028" cy="36286"/>
          </a:xfrm>
          <a:prstGeom prst="line">
            <a:avLst/>
          </a:prstGeom>
          <a:ln w="28575">
            <a:solidFill>
              <a:schemeClr val="accent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9ADE38EE-1DF7-F9C4-E857-0D66E132CBA0}"/>
              </a:ext>
            </a:extLst>
          </p:cNvPr>
          <p:cNvSpPr/>
          <p:nvPr/>
        </p:nvSpPr>
        <p:spPr>
          <a:xfrm>
            <a:off x="754743" y="1803308"/>
            <a:ext cx="4572000" cy="899886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6 % FCFF CAGR 2024-2028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97DB93-3ACE-DCE4-E678-8675B2FFCEB2}"/>
              </a:ext>
            </a:extLst>
          </p:cNvPr>
          <p:cNvSpPr/>
          <p:nvPr/>
        </p:nvSpPr>
        <p:spPr>
          <a:xfrm>
            <a:off x="747486" y="3184754"/>
            <a:ext cx="4572000" cy="899886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</a:rPr>
              <a:t>7.02% </a:t>
            </a:r>
            <a:r>
              <a:rPr lang="en-US" sz="2000" b="1" dirty="0">
                <a:solidFill>
                  <a:schemeClr val="tx1"/>
                </a:solidFill>
              </a:rPr>
              <a:t>WACC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F48A56-5DB7-944E-83BA-67B5F3F12242}"/>
              </a:ext>
            </a:extLst>
          </p:cNvPr>
          <p:cNvSpPr/>
          <p:nvPr/>
        </p:nvSpPr>
        <p:spPr>
          <a:xfrm>
            <a:off x="754743" y="4717403"/>
            <a:ext cx="4572000" cy="899886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2% Terminal Growth Rate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D0C8E0-EA9D-B407-5ED3-33816F796A1F}"/>
              </a:ext>
            </a:extLst>
          </p:cNvPr>
          <p:cNvSpPr/>
          <p:nvPr/>
        </p:nvSpPr>
        <p:spPr>
          <a:xfrm>
            <a:off x="5646058" y="1260388"/>
            <a:ext cx="2351313" cy="4668606"/>
          </a:xfrm>
          <a:prstGeom prst="rect">
            <a:avLst/>
          </a:prstGeom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2F1B630-15D8-D64A-180A-6B7F5ED78D58}"/>
              </a:ext>
            </a:extLst>
          </p:cNvPr>
          <p:cNvSpPr/>
          <p:nvPr/>
        </p:nvSpPr>
        <p:spPr>
          <a:xfrm>
            <a:off x="5954486" y="1524701"/>
            <a:ext cx="1734457" cy="899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782BAA"/>
                </a:solidFill>
              </a:rPr>
              <a:t>€ 63.1 B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385C80-4573-D37B-D6AF-FE76010FA2EB}"/>
              </a:ext>
            </a:extLst>
          </p:cNvPr>
          <p:cNvSpPr/>
          <p:nvPr/>
        </p:nvSpPr>
        <p:spPr>
          <a:xfrm>
            <a:off x="5954486" y="2085440"/>
            <a:ext cx="1734457" cy="899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782BAA"/>
                </a:solidFill>
              </a:rPr>
              <a:t>Enterprise Value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9A0957E-1F6B-D0CA-9E58-FAE2D993112C}"/>
              </a:ext>
            </a:extLst>
          </p:cNvPr>
          <p:cNvSpPr/>
          <p:nvPr/>
        </p:nvSpPr>
        <p:spPr>
          <a:xfrm>
            <a:off x="6008914" y="3082515"/>
            <a:ext cx="1625600" cy="1125209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50%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2024-2028</a:t>
            </a:r>
          </a:p>
          <a:p>
            <a:pPr algn="ctr"/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05F80A6-6CD3-3390-F393-167A75272401}"/>
              </a:ext>
            </a:extLst>
          </p:cNvPr>
          <p:cNvSpPr/>
          <p:nvPr/>
        </p:nvSpPr>
        <p:spPr>
          <a:xfrm>
            <a:off x="6008914" y="4207724"/>
            <a:ext cx="1625600" cy="1460625"/>
          </a:xfrm>
          <a:prstGeom prst="rect">
            <a:avLst/>
          </a:prstGeom>
          <a:solidFill>
            <a:schemeClr val="accent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50%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2024-2028</a:t>
            </a:r>
          </a:p>
          <a:p>
            <a:pPr algn="ctr"/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E93058AB-40C6-2F82-5644-1F4A3E0522E6}"/>
              </a:ext>
            </a:extLst>
          </p:cNvPr>
          <p:cNvSpPr/>
          <p:nvPr/>
        </p:nvSpPr>
        <p:spPr>
          <a:xfrm rot="5400000">
            <a:off x="6070198" y="3383689"/>
            <a:ext cx="4638119" cy="551544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5674549-AA7E-D8D4-B9E8-5A81A6D64B31}"/>
              </a:ext>
            </a:extLst>
          </p:cNvPr>
          <p:cNvSpPr/>
          <p:nvPr/>
        </p:nvSpPr>
        <p:spPr>
          <a:xfrm>
            <a:off x="8969830" y="1984738"/>
            <a:ext cx="2685142" cy="341483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  <a:prstDash val="sysDash"/>
          </a:ln>
          <a:effectLst>
            <a:glow rad="228600">
              <a:schemeClr val="bg1">
                <a:lumMod val="50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4B6F261-4360-E5DB-B9E0-F03C802076F1}"/>
              </a:ext>
            </a:extLst>
          </p:cNvPr>
          <p:cNvSpPr/>
          <p:nvPr/>
        </p:nvSpPr>
        <p:spPr>
          <a:xfrm>
            <a:off x="9445170" y="2027668"/>
            <a:ext cx="1734457" cy="899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782BAA"/>
                </a:solidFill>
              </a:rPr>
              <a:t>BUY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F0BD5E7-30F8-094F-5B5A-CF9F0F366C2B}"/>
              </a:ext>
            </a:extLst>
          </p:cNvPr>
          <p:cNvSpPr/>
          <p:nvPr/>
        </p:nvSpPr>
        <p:spPr>
          <a:xfrm>
            <a:off x="9128168" y="2860064"/>
            <a:ext cx="2368463" cy="210382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€ 56.60 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Target Price</a:t>
            </a:r>
          </a:p>
        </p:txBody>
      </p:sp>
    </p:spTree>
    <p:extLst>
      <p:ext uri="{BB962C8B-B14F-4D97-AF65-F5344CB8AC3E}">
        <p14:creationId xmlns:p14="http://schemas.microsoft.com/office/powerpoint/2010/main" val="18119242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POWER_POINT_EXCEL_LINK_TAG_NAME" val="{&quot;Id&quot;:&quot;POWER_USER_LINK_E0FDEEB7_3D65_4394_BC7F_793F3F95E381&quot;,&quot;SourceFullName&quot;:&quot;https://d.docs.live.net/7281e7c60810f880/Master in Economics_AMSE/M2/Corporate Finance/Group_Project_Corporate_Finance_M2/Financial_Modeling_Sanofi.xlsx&quot;,&quot;LastUpdate&quot;:&quot;2025-01-12 6:27 PM&quot;,&quot;UpdatedBy&quot;:&quot;simey&quot;,&quot;IsLinked&quot;:false,&quot;IsBrokenLink&quot;:false,&quot;Type&quot;:1,&quot;ShapeId&quot;:0,&quot;WorksheetName&quot;:null}"/>
</p:tagLst>
</file>

<file path=ppt/theme/theme1.xml><?xml version="1.0" encoding="utf-8"?>
<a:theme xmlns:a="http://schemas.openxmlformats.org/drawingml/2006/main" name="Office Theme">
  <a:themeElements>
    <a:clrScheme name="Custom 1">
      <a:dk1>
        <a:srgbClr val="FFFFFF"/>
      </a:dk1>
      <a:lt1>
        <a:srgbClr val="391451"/>
      </a:lt1>
      <a:dk2>
        <a:srgbClr val="FFFFFF"/>
      </a:dk2>
      <a:lt2>
        <a:srgbClr val="391451"/>
      </a:lt2>
      <a:accent1>
        <a:srgbClr val="FFFFFF"/>
      </a:accent1>
      <a:accent2>
        <a:srgbClr val="DEC3F0"/>
      </a:accent2>
      <a:accent3>
        <a:srgbClr val="BD87E1"/>
      </a:accent3>
      <a:accent4>
        <a:srgbClr val="9C4BD1"/>
      </a:accent4>
      <a:accent5>
        <a:srgbClr val="7030A0"/>
      </a:accent5>
      <a:accent6>
        <a:srgbClr val="4C1B6C"/>
      </a:accent6>
      <a:hlink>
        <a:srgbClr val="3F48BF"/>
      </a:hlink>
      <a:folHlink>
        <a:srgbClr val="0070C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FDFD5EF-95A6-49F6-9FC9-3647B53542A0}">
  <we:reference id="wa104178141" version="4.3.3.0" store="en-US" storeType="OMEX"/>
  <we:alternateReferences>
    <we:reference id="WA104178141" version="4.3.3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638</TotalTime>
  <Words>160</Words>
  <Application>Microsoft Office PowerPoint</Application>
  <PresentationFormat>Grand écran</PresentationFormat>
  <Paragraphs>65</Paragraphs>
  <Slides>5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Aptos Narrow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simey hin</dc:creator>
  <cp:lastModifiedBy>ALEGUE Amidath</cp:lastModifiedBy>
  <cp:revision>6</cp:revision>
  <dcterms:created xsi:type="dcterms:W3CDTF">2025-01-12T13:31:37Z</dcterms:created>
  <dcterms:modified xsi:type="dcterms:W3CDTF">2026-06-19T20:40:35Z</dcterms:modified>
</cp:coreProperties>
</file>